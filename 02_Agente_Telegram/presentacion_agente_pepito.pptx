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457200"/>
            <a:ext cx="2743200" cy="274320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3657600"/>
            <a:ext cx="2286000" cy="228600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645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AGENTE TELEGRAM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24688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4361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PEPITO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09728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Asistente IA para Google Sheets via Telegram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97280" y="4572000"/>
            <a:ext cx="2743200" cy="27432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4846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Proyecto de Automatizacion con n8n + Gemini AI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5303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Abril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Problema y Solucion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C0"/>
                </a:solidFill>
              </a:rPr>
              <a:t>2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63040"/>
            <a:ext cx="5029200" cy="4389120"/>
          </a:xfrm>
          <a:prstGeom prst="roundRect">
            <a:avLst>
              <a:gd name="adj" fmla="val 3125"/>
            </a:avLst>
          </a:prstGeom>
          <a:solidFill>
            <a:srgbClr val="2A1A2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1645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7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PROBLEMA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cliente necesita consultar datos de Google Sheets desde el celular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28803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2"/>
            </a:pPr>
            <a:r>
              <a:rPr lang="en-US" sz="12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quiere abrir la app de Sheets (compleja en movil)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34747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3"/>
            </a:pPr>
            <a:r>
              <a:rPr lang="en-US" sz="12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Necesita buscar, filtrar, calcular y editar datos rapidamente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40690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4"/>
            </a:pPr>
            <a:r>
              <a:rPr lang="en-US" sz="12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Quiere enviar audios en vez de escribir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46634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5"/>
            </a:pPr>
            <a:r>
              <a:rPr lang="en-US" sz="12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Necesita que el bot recuerde con que archivo esta trabajando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1463040"/>
            <a:ext cx="5029200" cy="4389120"/>
          </a:xfrm>
          <a:prstGeom prst="roundRect">
            <a:avLst>
              <a:gd name="adj" fmla="val 3125"/>
            </a:avLst>
          </a:prstGeom>
          <a:solidFill>
            <a:srgbClr val="1A2E2A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1645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D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SOLUCION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0" y="228600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Agente IA en Telegram con lenguaje natural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288036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2"/>
            </a:pPr>
            <a:r>
              <a:rPr lang="en-US" sz="12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Acceso directo a Google Drive y Sheets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347472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3"/>
            </a:pPr>
            <a:r>
              <a:rPr lang="en-US" sz="12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Filtrado, calculos y edicion por chat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40690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4"/>
            </a:pPr>
            <a:r>
              <a:rPr lang="en-US" sz="12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Transcripcion de audio con Gemini AI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46634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5"/>
            </a:pPr>
            <a:r>
              <a:rPr lang="en-US" sz="12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Memoria por usuario con Supabase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 General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C0"/>
                </a:solidFill>
              </a:rPr>
              <a:t>3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560320"/>
            <a:ext cx="1645920" cy="201168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834640"/>
            <a:ext cx="822960" cy="82296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88036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📱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3840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Usuario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Telegram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48840" y="3200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B8CFF"/>
                </a:solidFill>
              </a:rPr>
              <a:t>➡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560320" y="2560320"/>
            <a:ext cx="1645920" cy="2011680"/>
          </a:xfrm>
          <a:prstGeom prst="roundRect">
            <a:avLst>
              <a:gd name="adj" fmla="val 8333"/>
            </a:avLst>
          </a:prstGeom>
          <a:solidFill>
            <a:srgbClr val="2A2A4A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71800" y="2834640"/>
            <a:ext cx="822960" cy="822960"/>
          </a:xfrm>
          <a:prstGeom prst="ellipse">
            <a:avLst/>
          </a:prstGeom>
          <a:solidFill>
            <a:srgbClr val="2A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2971800" y="288036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🔗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651760" y="3840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Webhook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n8n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51960" y="3200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B8CFF"/>
                </a:solidFill>
              </a:rPr>
              <a:t>➡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663440" y="2560320"/>
            <a:ext cx="1645920" cy="201168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74920" y="2834640"/>
            <a:ext cx="822960" cy="82296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288036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🧠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754880" y="3840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2.5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55080" y="3200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B8CFF"/>
                </a:solidFill>
              </a:rPr>
              <a:t>➡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766560" y="2560320"/>
            <a:ext cx="1645920" cy="201168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78040" y="2834640"/>
            <a:ext cx="822960" cy="82296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3" name="Text 21"/>
          <p:cNvSpPr/>
          <p:nvPr/>
        </p:nvSpPr>
        <p:spPr>
          <a:xfrm>
            <a:off x="7178040" y="288036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📄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858000" y="3840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Drive/Sheets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58200" y="3200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B8CFF"/>
                </a:solidFill>
              </a:rPr>
              <a:t>➡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8869680" y="2560320"/>
            <a:ext cx="1645920" cy="201168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281160" y="2834640"/>
            <a:ext cx="822960" cy="82296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28" name="Text 26"/>
          <p:cNvSpPr/>
          <p:nvPr/>
        </p:nvSpPr>
        <p:spPr>
          <a:xfrm>
            <a:off x="9281160" y="288036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🗃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8961120" y="3840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Memoria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561320" y="3200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B8CFF"/>
                </a:solidFill>
              </a:rPr>
              <a:t>➡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10515600" y="2560320"/>
            <a:ext cx="1645920" cy="201168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927080" y="2834640"/>
            <a:ext cx="822960" cy="82296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33" name="Text 31"/>
          <p:cNvSpPr/>
          <p:nvPr/>
        </p:nvSpPr>
        <p:spPr>
          <a:xfrm>
            <a:off x="10927080" y="288036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✅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10607040" y="384048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Respuesta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Telegram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de 28 nodos en n8n orquestando todo el flujo de extremo a extremo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Stack Tecnologico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C0"/>
                </a:solidFill>
              </a:rPr>
              <a:t>4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45920"/>
            <a:ext cx="2560320" cy="2011680"/>
          </a:xfrm>
          <a:prstGeom prst="roundRect">
            <a:avLst>
              <a:gd name="adj" fmla="val 6818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1828800"/>
            <a:ext cx="822960" cy="82296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187452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n8n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Plataforma de automatizacion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workflows (28 nodos)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83280" y="1645920"/>
            <a:ext cx="2560320" cy="2011680"/>
          </a:xfrm>
          <a:prstGeom prst="roundRect">
            <a:avLst>
              <a:gd name="adj" fmla="val 6818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06240" y="1828800"/>
            <a:ext cx="822960" cy="82296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0" y="187452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566160" y="26974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2.5 Flash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30175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de Google para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razonamiento e IA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1645920"/>
            <a:ext cx="2560320" cy="2011680"/>
          </a:xfrm>
          <a:prstGeom prst="roundRect">
            <a:avLst>
              <a:gd name="adj" fmla="val 6818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40880" y="1828800"/>
            <a:ext cx="822960" cy="822960"/>
          </a:xfrm>
          <a:prstGeom prst="ellipse">
            <a:avLst/>
          </a:prstGeom>
          <a:solidFill>
            <a:srgbClr val="7B8CFF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187452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📨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00800" y="26974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Telegram Bot API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0" y="30175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Canal de comunicacion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el usuario final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052560" y="1645920"/>
            <a:ext cx="2560320" cy="2011680"/>
          </a:xfrm>
          <a:prstGeom prst="roundRect">
            <a:avLst>
              <a:gd name="adj" fmla="val 6818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875520" y="1828800"/>
            <a:ext cx="822960" cy="82296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23" name="Text 21"/>
          <p:cNvSpPr/>
          <p:nvPr/>
        </p:nvSpPr>
        <p:spPr>
          <a:xfrm>
            <a:off x="9875520" y="187452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📁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235440" y="26974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Drive API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235440" y="30175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Busqueda y gestion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archivos en la nube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4114800"/>
            <a:ext cx="2560320" cy="2011680"/>
          </a:xfrm>
          <a:prstGeom prst="roundRect">
            <a:avLst>
              <a:gd name="adj" fmla="val 6818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371600" y="4297680"/>
            <a:ext cx="822960" cy="82296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8" name="Text 26"/>
          <p:cNvSpPr/>
          <p:nvPr/>
        </p:nvSpPr>
        <p:spPr>
          <a:xfrm>
            <a:off x="1371600" y="434340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31520" y="5166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Sheets API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1520" y="5486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Lectura, escritura 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edicion de hojas de calculo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383280" y="4114800"/>
            <a:ext cx="2560320" cy="2011680"/>
          </a:xfrm>
          <a:prstGeom prst="roundRect">
            <a:avLst>
              <a:gd name="adj" fmla="val 6818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206240" y="4297680"/>
            <a:ext cx="822960" cy="822960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33" name="Text 31"/>
          <p:cNvSpPr/>
          <p:nvPr/>
        </p:nvSpPr>
        <p:spPr>
          <a:xfrm>
            <a:off x="4206240" y="434340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🗃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3566160" y="5166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566160" y="5486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de datos PostgreSQL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sesiones de usuario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17920" y="4114800"/>
            <a:ext cx="2560320" cy="2011680"/>
          </a:xfrm>
          <a:prstGeom prst="roundRect">
            <a:avLst>
              <a:gd name="adj" fmla="val 6818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040880" y="4297680"/>
            <a:ext cx="822960" cy="822960"/>
          </a:xfrm>
          <a:prstGeom prst="ellipse">
            <a:avLst/>
          </a:prstGeom>
          <a:solidFill>
            <a:srgbClr val="7B8CFF"/>
          </a:solidFill>
          <a:ln/>
        </p:spPr>
      </p:sp>
      <p:sp>
        <p:nvSpPr>
          <p:cNvPr id="38" name="Text 36"/>
          <p:cNvSpPr/>
          <p:nvPr/>
        </p:nvSpPr>
        <p:spPr>
          <a:xfrm>
            <a:off x="7040880" y="434340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🎤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6400800" y="5166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Files API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00800" y="5486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y procesamiento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archivos multimedia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052560" y="4114800"/>
            <a:ext cx="2560320" cy="2011680"/>
          </a:xfrm>
          <a:prstGeom prst="roundRect">
            <a:avLst>
              <a:gd name="adj" fmla="val 6818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875520" y="4297680"/>
            <a:ext cx="822960" cy="822960"/>
          </a:xfrm>
          <a:prstGeom prst="ellipse">
            <a:avLst/>
          </a:prstGeom>
          <a:solidFill>
            <a:srgbClr val="2A2A4A"/>
          </a:solidFill>
          <a:ln/>
        </p:spPr>
      </p:sp>
      <p:sp>
        <p:nvSpPr>
          <p:cNvPr id="43" name="Text 41"/>
          <p:cNvSpPr/>
          <p:nvPr/>
        </p:nvSpPr>
        <p:spPr>
          <a:xfrm>
            <a:off x="9875520" y="434340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9235440" y="51663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ngrok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235440" y="5486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Tunel seguro para exponer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n8n al exterior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Flujo del Workflow — 3 Caminos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C0"/>
                </a:solidFill>
              </a:rPr>
              <a:t>5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645920"/>
            <a:ext cx="914400" cy="731520"/>
          </a:xfrm>
          <a:prstGeom prst="roundRect">
            <a:avLst>
              <a:gd name="adj" fmla="val 12500"/>
            </a:avLst>
          </a:prstGeom>
          <a:solidFill>
            <a:srgbClr val="4361EE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6459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71600" y="1645920"/>
            <a:ext cx="960120" cy="731520"/>
          </a:xfrm>
          <a:prstGeom prst="roundRect">
            <a:avLst>
              <a:gd name="adj" fmla="val 10000"/>
            </a:avLst>
          </a:prstGeom>
          <a:solidFill>
            <a:srgbClr val="2A2A4A"/>
          </a:solidFill>
          <a:ln w="6350">
            <a:solidFill>
              <a:srgbClr val="4361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645920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Webhook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286000" y="17830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61EE"/>
                </a:solidFill>
              </a:rPr>
              <a:t>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423160" y="1645920"/>
            <a:ext cx="960120" cy="731520"/>
          </a:xfrm>
          <a:prstGeom prst="roundRect">
            <a:avLst>
              <a:gd name="adj" fmla="val 10000"/>
            </a:avLst>
          </a:prstGeom>
          <a:solidFill>
            <a:srgbClr val="2A2A4A"/>
          </a:solidFill>
          <a:ln w="6350">
            <a:solidFill>
              <a:srgbClr val="4361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1645920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Telegram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337560" y="17830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61EE"/>
                </a:solidFill>
              </a:rPr>
              <a:t>›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74720" y="1645920"/>
            <a:ext cx="960120" cy="731520"/>
          </a:xfrm>
          <a:prstGeom prst="roundRect">
            <a:avLst>
              <a:gd name="adj" fmla="val 10000"/>
            </a:avLst>
          </a:prstGeom>
          <a:solidFill>
            <a:srgbClr val="2A2A4A"/>
          </a:solidFill>
          <a:ln w="6350">
            <a:solidFill>
              <a:srgbClr val="4361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1645920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Tiene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foto? NO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389120" y="17830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61EE"/>
                </a:solidFill>
              </a:rPr>
              <a:t>›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26280" y="1645920"/>
            <a:ext cx="960120" cy="731520"/>
          </a:xfrm>
          <a:prstGeom prst="roundRect">
            <a:avLst>
              <a:gd name="adj" fmla="val 10000"/>
            </a:avLst>
          </a:prstGeom>
          <a:solidFill>
            <a:srgbClr val="2A2A4A"/>
          </a:solidFill>
          <a:ln w="6350">
            <a:solidFill>
              <a:srgbClr val="4361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1645920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Tiene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audio? NO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440680" y="17830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61EE"/>
                </a:solidFill>
              </a:rPr>
              <a:t>›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577840" y="1645920"/>
            <a:ext cx="960120" cy="731520"/>
          </a:xfrm>
          <a:prstGeom prst="roundRect">
            <a:avLst>
              <a:gd name="adj" fmla="val 10000"/>
            </a:avLst>
          </a:prstGeom>
          <a:solidFill>
            <a:srgbClr val="2A2A4A"/>
          </a:solidFill>
          <a:ln w="6350">
            <a:solidFill>
              <a:srgbClr val="4361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1645920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Normalizar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texto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492240" y="17830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61EE"/>
                </a:solidFill>
              </a:rPr>
              <a:t>›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629400" y="1645920"/>
            <a:ext cx="960120" cy="731520"/>
          </a:xfrm>
          <a:prstGeom prst="roundRect">
            <a:avLst>
              <a:gd name="adj" fmla="val 10000"/>
            </a:avLst>
          </a:prstGeom>
          <a:solidFill>
            <a:srgbClr val="2A2A4A"/>
          </a:solidFill>
          <a:ln w="6350">
            <a:solidFill>
              <a:srgbClr val="4361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1645920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Leer sesion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7543800" y="17830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61EE"/>
                </a:solidFill>
              </a:rPr>
              <a:t>›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680960" y="1645920"/>
            <a:ext cx="960120" cy="731520"/>
          </a:xfrm>
          <a:prstGeom prst="roundRect">
            <a:avLst>
              <a:gd name="adj" fmla="val 10000"/>
            </a:avLst>
          </a:prstGeom>
          <a:solidFill>
            <a:srgbClr val="2A2A4A"/>
          </a:solidFill>
          <a:ln w="6350">
            <a:solidFill>
              <a:srgbClr val="4361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1645920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Construir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contexto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595360" y="17830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61EE"/>
                </a:solidFill>
              </a:rPr>
              <a:t>›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732520" y="1645920"/>
            <a:ext cx="960120" cy="731520"/>
          </a:xfrm>
          <a:prstGeom prst="roundRect">
            <a:avLst>
              <a:gd name="adj" fmla="val 10000"/>
            </a:avLst>
          </a:prstGeom>
          <a:solidFill>
            <a:srgbClr val="2A2A4A"/>
          </a:solidFill>
          <a:ln w="6350">
            <a:solidFill>
              <a:srgbClr val="4361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32520" y="1645920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Pepito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9646920" y="17830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61EE"/>
                </a:solidFill>
              </a:rPr>
              <a:t>›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784080" y="1645920"/>
            <a:ext cx="960120" cy="731520"/>
          </a:xfrm>
          <a:prstGeom prst="roundRect">
            <a:avLst>
              <a:gd name="adj" fmla="val 10000"/>
            </a:avLst>
          </a:prstGeom>
          <a:solidFill>
            <a:srgbClr val="2A2A4A"/>
          </a:solidFill>
          <a:ln w="6350">
            <a:solidFill>
              <a:srgbClr val="4361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84080" y="1645920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Limpiar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salida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0698480" y="178308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61EE"/>
                </a:solidFill>
              </a:rPr>
              <a:t>›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0835640" y="1645920"/>
            <a:ext cx="960120" cy="731520"/>
          </a:xfrm>
          <a:prstGeom prst="roundRect">
            <a:avLst>
              <a:gd name="adj" fmla="val 10000"/>
            </a:avLst>
          </a:prstGeom>
          <a:solidFill>
            <a:srgbClr val="2A2A4A"/>
          </a:solidFill>
          <a:ln w="6350">
            <a:solidFill>
              <a:srgbClr val="4361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835640" y="1645920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Responder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Telegram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74320" y="3291840"/>
            <a:ext cx="914400" cy="731520"/>
          </a:xfrm>
          <a:prstGeom prst="roundRect">
            <a:avLst>
              <a:gd name="adj" fmla="val 12500"/>
            </a:avLst>
          </a:prstGeom>
          <a:solidFill>
            <a:srgbClr val="06D6A0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" y="32918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FOTO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371600" y="3291840"/>
            <a:ext cx="960120" cy="731520"/>
          </a:xfrm>
          <a:prstGeom prst="roundRect">
            <a:avLst>
              <a:gd name="adj" fmla="val 10000"/>
            </a:avLst>
          </a:prstGeom>
          <a:solidFill>
            <a:srgbClr val="2A2A4A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371600" y="3291840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Webhook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286000" y="34290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D6A0"/>
                </a:solidFill>
              </a:rPr>
              <a:t>›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2423160" y="3291840"/>
            <a:ext cx="960120" cy="731520"/>
          </a:xfrm>
          <a:prstGeom prst="roundRect">
            <a:avLst>
              <a:gd name="adj" fmla="val 10000"/>
            </a:avLst>
          </a:prstGeom>
          <a:solidFill>
            <a:srgbClr val="2A2A4A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23160" y="3291840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Telegram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337560" y="34290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D6A0"/>
                </a:solidFill>
              </a:rPr>
              <a:t>›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474720" y="3291840"/>
            <a:ext cx="960120" cy="731520"/>
          </a:xfrm>
          <a:prstGeom prst="roundRect">
            <a:avLst>
              <a:gd name="adj" fmla="val 10000"/>
            </a:avLst>
          </a:prstGeom>
          <a:solidFill>
            <a:srgbClr val="2A2A4A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0" y="3291840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Tiene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foto? SI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389120" y="34290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D6A0"/>
                </a:solidFill>
              </a:rPr>
              <a:t>›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4526280" y="3291840"/>
            <a:ext cx="960120" cy="731520"/>
          </a:xfrm>
          <a:prstGeom prst="roundRect">
            <a:avLst>
              <a:gd name="adj" fmla="val 10000"/>
            </a:avLst>
          </a:prstGeom>
          <a:solidFill>
            <a:srgbClr val="2A2A4A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26280" y="3291840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Obtener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ruta foto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440680" y="34290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D6A0"/>
                </a:solidFill>
              </a:rPr>
              <a:t>›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5577840" y="3291840"/>
            <a:ext cx="960120" cy="731520"/>
          </a:xfrm>
          <a:prstGeom prst="roundRect">
            <a:avLst>
              <a:gd name="adj" fmla="val 10000"/>
            </a:avLst>
          </a:prstGeom>
          <a:solidFill>
            <a:srgbClr val="2A2A4A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77840" y="3291840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Descargar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imagen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492240" y="34290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D6A0"/>
                </a:solidFill>
              </a:rPr>
              <a:t>›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6629400" y="3291840"/>
            <a:ext cx="960120" cy="731520"/>
          </a:xfrm>
          <a:prstGeom prst="roundRect">
            <a:avLst>
              <a:gd name="adj" fmla="val 10000"/>
            </a:avLst>
          </a:prstGeom>
          <a:solidFill>
            <a:srgbClr val="2A2A4A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29400" y="3291840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Normalizar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foto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7543800" y="34290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D6A0"/>
                </a:solidFill>
              </a:rPr>
              <a:t>›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7680960" y="3291840"/>
            <a:ext cx="960120" cy="731520"/>
          </a:xfrm>
          <a:prstGeom prst="roundRect">
            <a:avLst>
              <a:gd name="adj" fmla="val 10000"/>
            </a:avLst>
          </a:prstGeom>
          <a:solidFill>
            <a:srgbClr val="2A2A4A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680960" y="3291840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Leer sesion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8595360" y="34290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D6A0"/>
                </a:solidFill>
              </a:rPr>
              <a:t>›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8732520" y="3291840"/>
            <a:ext cx="960120" cy="731520"/>
          </a:xfrm>
          <a:prstGeom prst="roundRect">
            <a:avLst>
              <a:gd name="adj" fmla="val 10000"/>
            </a:avLst>
          </a:prstGeom>
          <a:solidFill>
            <a:srgbClr val="2A2A4A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732520" y="3291840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Construir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contexto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9646920" y="34290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D6A0"/>
                </a:solidFill>
              </a:rPr>
              <a:t>›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9784080" y="3291840"/>
            <a:ext cx="960120" cy="731520"/>
          </a:xfrm>
          <a:prstGeom prst="roundRect">
            <a:avLst>
              <a:gd name="adj" fmla="val 10000"/>
            </a:avLst>
          </a:prstGeom>
          <a:solidFill>
            <a:srgbClr val="2A2A4A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784080" y="3291840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Pepito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10698480" y="34290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D6A0"/>
                </a:solidFill>
              </a:rPr>
              <a:t>›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10835640" y="3291840"/>
            <a:ext cx="960120" cy="731520"/>
          </a:xfrm>
          <a:prstGeom prst="roundRect">
            <a:avLst>
              <a:gd name="adj" fmla="val 10000"/>
            </a:avLst>
          </a:prstGeom>
          <a:solidFill>
            <a:srgbClr val="2A2A4A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835640" y="3291840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Responder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74320" y="4937760"/>
            <a:ext cx="914400" cy="731520"/>
          </a:xfrm>
          <a:prstGeom prst="roundRect">
            <a:avLst>
              <a:gd name="adj" fmla="val 12500"/>
            </a:avLst>
          </a:prstGeom>
          <a:solidFill>
            <a:srgbClr val="FF9F1C"/>
          </a:solidFill>
          <a:ln/>
        </p:spPr>
      </p:sp>
      <p:sp>
        <p:nvSpPr>
          <p:cNvPr id="69" name="Text 67"/>
          <p:cNvSpPr/>
          <p:nvPr/>
        </p:nvSpPr>
        <p:spPr>
          <a:xfrm>
            <a:off x="274320" y="49377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AUDIO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1371600" y="4937760"/>
            <a:ext cx="960120" cy="731520"/>
          </a:xfrm>
          <a:prstGeom prst="roundRect">
            <a:avLst>
              <a:gd name="adj" fmla="val 10000"/>
            </a:avLst>
          </a:prstGeom>
          <a:solidFill>
            <a:srgbClr val="2A2A4A"/>
          </a:solidFill>
          <a:ln w="6350">
            <a:solidFill>
              <a:srgbClr val="FF9F1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371600" y="4937760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Webhook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2286000" y="50749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F1C"/>
                </a:solidFill>
              </a:rPr>
              <a:t>›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2423160" y="4937760"/>
            <a:ext cx="960120" cy="731520"/>
          </a:xfrm>
          <a:prstGeom prst="roundRect">
            <a:avLst>
              <a:gd name="adj" fmla="val 10000"/>
            </a:avLst>
          </a:prstGeom>
          <a:solidFill>
            <a:srgbClr val="2A2A4A"/>
          </a:solidFill>
          <a:ln w="6350">
            <a:solidFill>
              <a:srgbClr val="FF9F1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423160" y="4937760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3337560" y="50749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F1C"/>
                </a:solidFill>
              </a:rPr>
              <a:t>›</a:t>
            </a:r>
            <a:endParaRPr lang="en-US" sz="1400" dirty="0"/>
          </a:p>
        </p:txBody>
      </p:sp>
      <p:sp>
        <p:nvSpPr>
          <p:cNvPr id="76" name="Shape 74"/>
          <p:cNvSpPr/>
          <p:nvPr/>
        </p:nvSpPr>
        <p:spPr>
          <a:xfrm>
            <a:off x="3474720" y="4937760"/>
            <a:ext cx="960120" cy="731520"/>
          </a:xfrm>
          <a:prstGeom prst="roundRect">
            <a:avLst>
              <a:gd name="adj" fmla="val 10000"/>
            </a:avLst>
          </a:prstGeom>
          <a:solidFill>
            <a:srgbClr val="2A2A4A"/>
          </a:solidFill>
          <a:ln w="6350">
            <a:solidFill>
              <a:srgbClr val="FF9F1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474720" y="4937760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foto? NO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4389120" y="50749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F1C"/>
                </a:solidFill>
              </a:rPr>
              <a:t>›</a:t>
            </a:r>
            <a:endParaRPr lang="en-US" sz="1400" dirty="0"/>
          </a:p>
        </p:txBody>
      </p:sp>
      <p:sp>
        <p:nvSpPr>
          <p:cNvPr id="79" name="Shape 77"/>
          <p:cNvSpPr/>
          <p:nvPr/>
        </p:nvSpPr>
        <p:spPr>
          <a:xfrm>
            <a:off x="4526280" y="4937760"/>
            <a:ext cx="960120" cy="731520"/>
          </a:xfrm>
          <a:prstGeom prst="roundRect">
            <a:avLst>
              <a:gd name="adj" fmla="val 10000"/>
            </a:avLst>
          </a:prstGeom>
          <a:solidFill>
            <a:srgbClr val="2A2A4A"/>
          </a:solidFill>
          <a:ln w="6350">
            <a:solidFill>
              <a:srgbClr val="FF9F1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526280" y="4937760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audio? SI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5440680" y="50749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F1C"/>
                </a:solidFill>
              </a:rPr>
              <a:t>›</a:t>
            </a:r>
            <a:endParaRPr lang="en-US" sz="1400" dirty="0"/>
          </a:p>
        </p:txBody>
      </p:sp>
      <p:sp>
        <p:nvSpPr>
          <p:cNvPr id="82" name="Shape 80"/>
          <p:cNvSpPr/>
          <p:nvPr/>
        </p:nvSpPr>
        <p:spPr>
          <a:xfrm>
            <a:off x="5577840" y="4937760"/>
            <a:ext cx="960120" cy="731520"/>
          </a:xfrm>
          <a:prstGeom prst="roundRect">
            <a:avLst>
              <a:gd name="adj" fmla="val 10000"/>
            </a:avLst>
          </a:prstGeom>
          <a:solidFill>
            <a:srgbClr val="2A2A4A"/>
          </a:solidFill>
          <a:ln w="6350">
            <a:solidFill>
              <a:srgbClr val="FF9F1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577840" y="4937760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Obtener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ruta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6492240" y="50749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F1C"/>
                </a:solidFill>
              </a:rPr>
              <a:t>›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6629400" y="4937760"/>
            <a:ext cx="960120" cy="731520"/>
          </a:xfrm>
          <a:prstGeom prst="roundRect">
            <a:avLst>
              <a:gd name="adj" fmla="val 10000"/>
            </a:avLst>
          </a:prstGeom>
          <a:solidFill>
            <a:srgbClr val="2A2A4A"/>
          </a:solidFill>
          <a:ln w="6350">
            <a:solidFill>
              <a:srgbClr val="FF9F1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629400" y="4937760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Descargar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audio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7543800" y="50749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F1C"/>
                </a:solidFill>
              </a:rPr>
              <a:t>›</a:t>
            </a:r>
            <a:endParaRPr lang="en-US" sz="1400" dirty="0"/>
          </a:p>
        </p:txBody>
      </p:sp>
      <p:sp>
        <p:nvSpPr>
          <p:cNvPr id="88" name="Shape 86"/>
          <p:cNvSpPr/>
          <p:nvPr/>
        </p:nvSpPr>
        <p:spPr>
          <a:xfrm>
            <a:off x="7680960" y="4937760"/>
            <a:ext cx="960120" cy="731520"/>
          </a:xfrm>
          <a:prstGeom prst="roundRect">
            <a:avLst>
              <a:gd name="adj" fmla="val 10000"/>
            </a:avLst>
          </a:prstGeom>
          <a:solidFill>
            <a:srgbClr val="2A2A4A"/>
          </a:solidFill>
          <a:ln w="6350">
            <a:solidFill>
              <a:srgbClr val="FF9F1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680960" y="4937760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Subir a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8595360" y="50749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F1C"/>
                </a:solidFill>
              </a:rPr>
              <a:t>›</a:t>
            </a:r>
            <a:endParaRPr lang="en-US" sz="1400" dirty="0"/>
          </a:p>
        </p:txBody>
      </p:sp>
      <p:sp>
        <p:nvSpPr>
          <p:cNvPr id="91" name="Shape 89"/>
          <p:cNvSpPr/>
          <p:nvPr/>
        </p:nvSpPr>
        <p:spPr>
          <a:xfrm>
            <a:off x="8732520" y="4937760"/>
            <a:ext cx="960120" cy="731520"/>
          </a:xfrm>
          <a:prstGeom prst="roundRect">
            <a:avLst>
              <a:gd name="adj" fmla="val 10000"/>
            </a:avLst>
          </a:prstGeom>
          <a:solidFill>
            <a:srgbClr val="2A2A4A"/>
          </a:solidFill>
          <a:ln w="6350">
            <a:solidFill>
              <a:srgbClr val="FF9F1C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732520" y="4937760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Transcribir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9646920" y="50749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F1C"/>
                </a:solidFill>
              </a:rPr>
              <a:t>›</a:t>
            </a:r>
            <a:endParaRPr lang="en-US" sz="1400" dirty="0"/>
          </a:p>
        </p:txBody>
      </p:sp>
      <p:sp>
        <p:nvSpPr>
          <p:cNvPr id="94" name="Shape 92"/>
          <p:cNvSpPr/>
          <p:nvPr/>
        </p:nvSpPr>
        <p:spPr>
          <a:xfrm>
            <a:off x="9784080" y="4937760"/>
            <a:ext cx="960120" cy="731520"/>
          </a:xfrm>
          <a:prstGeom prst="roundRect">
            <a:avLst>
              <a:gd name="adj" fmla="val 10000"/>
            </a:avLst>
          </a:prstGeom>
          <a:solidFill>
            <a:srgbClr val="2A2A4A"/>
          </a:solidFill>
          <a:ln w="6350">
            <a:solidFill>
              <a:srgbClr val="FF9F1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784080" y="4937760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texto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10698480" y="507492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F1C"/>
                </a:solidFill>
              </a:rPr>
              <a:t>›</a:t>
            </a:r>
            <a:endParaRPr lang="en-US" sz="1400" dirty="0"/>
          </a:p>
        </p:txBody>
      </p:sp>
      <p:sp>
        <p:nvSpPr>
          <p:cNvPr id="97" name="Shape 95"/>
          <p:cNvSpPr/>
          <p:nvPr/>
        </p:nvSpPr>
        <p:spPr>
          <a:xfrm>
            <a:off x="10835640" y="4937760"/>
            <a:ext cx="960120" cy="731520"/>
          </a:xfrm>
          <a:prstGeom prst="roundRect">
            <a:avLst>
              <a:gd name="adj" fmla="val 10000"/>
            </a:avLst>
          </a:prstGeom>
          <a:solidFill>
            <a:srgbClr val="2A2A4A"/>
          </a:solidFill>
          <a:ln w="6350">
            <a:solidFill>
              <a:srgbClr val="FF9F1C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0835640" y="4937760"/>
            <a:ext cx="960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Agente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Herramientas del Agente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C0"/>
                </a:solidFill>
              </a:rPr>
              <a:t>6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63040"/>
            <a:ext cx="5120640" cy="1051560"/>
          </a:xfrm>
          <a:prstGeom prst="roundRect">
            <a:avLst>
              <a:gd name="adj" fmla="val 13043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600200"/>
            <a:ext cx="731520" cy="73152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600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2880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buscar_en_drive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28800" y="1965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Busca archivos Sheets/Excel en Google Drive del usuario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120640" cy="1051560"/>
          </a:xfrm>
          <a:prstGeom prst="roundRect">
            <a:avLst>
              <a:gd name="adj" fmla="val 13043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0" y="1600200"/>
            <a:ext cx="731520" cy="73152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600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📌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31520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seleccionar_archivo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0" y="1965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Guarda en Supabase que archivo esta usando el usuario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2697480"/>
            <a:ext cx="5120640" cy="1051560"/>
          </a:xfrm>
          <a:prstGeom prst="roundRect">
            <a:avLst>
              <a:gd name="adj" fmla="val 13043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2834640"/>
            <a:ext cx="731520" cy="731520"/>
          </a:xfrm>
          <a:prstGeom prst="ellipse">
            <a:avLst/>
          </a:prstGeom>
          <a:solidFill>
            <a:srgbClr val="7B8CFF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2834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828800" y="2788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guardar_file_id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828800" y="32004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Actualiza el file_id en la sesion tras buscar en Drive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2697480"/>
            <a:ext cx="5120640" cy="1051560"/>
          </a:xfrm>
          <a:prstGeom prst="roundRect">
            <a:avLst>
              <a:gd name="adj" fmla="val 13043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0" y="2834640"/>
            <a:ext cx="731520" cy="73152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2834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315200" y="2788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leer_filas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0" y="32004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Lee rangos de datos desde Google Sheets API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1520" y="3931920"/>
            <a:ext cx="5120640" cy="1051560"/>
          </a:xfrm>
          <a:prstGeom prst="roundRect">
            <a:avLst>
              <a:gd name="adj" fmla="val 13043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4400" y="4069080"/>
            <a:ext cx="731520" cy="73152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069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📃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82880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listar_hojas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828800" y="4434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Obtiene la lista de pestanas/hojas de un spreadsheet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3931920"/>
            <a:ext cx="5120640" cy="1051560"/>
          </a:xfrm>
          <a:prstGeom prst="roundRect">
            <a:avLst>
              <a:gd name="adj" fmla="val 13043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00800" y="4069080"/>
            <a:ext cx="731520" cy="73152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4069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✍️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31520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escribir_fila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315200" y="4434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Agrega una nueva fila de datos al final de la hoja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1520" y="5166360"/>
            <a:ext cx="5120640" cy="1051560"/>
          </a:xfrm>
          <a:prstGeom prst="roundRect">
            <a:avLst>
              <a:gd name="adj" fmla="val 13043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14400" y="5303520"/>
            <a:ext cx="731520" cy="731520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5303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✂️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1828800" y="5257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editar_celda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828800" y="5669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Modifica el valor de una celda especifica (ej: B5)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17920" y="5166360"/>
            <a:ext cx="5120640" cy="1051560"/>
          </a:xfrm>
          <a:prstGeom prst="roundRect">
            <a:avLst>
              <a:gd name="adj" fmla="val 13043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400800" y="5303520"/>
            <a:ext cx="731520" cy="731520"/>
          </a:xfrm>
          <a:prstGeom prst="ellipse">
            <a:avLst/>
          </a:prstGeom>
          <a:solidFill>
            <a:srgbClr val="7B8CFF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0" y="5303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➕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7315200" y="5257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agregar_columna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315200" y="5669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 una nueva columna con encabezado en la hoja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de Audio — Transcripcion con IA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C0"/>
                </a:solidFill>
              </a:rPr>
              <a:t>7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011680"/>
            <a:ext cx="1645920" cy="274320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1828800"/>
            <a:ext cx="502920" cy="50292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🎤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Usuario envia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audio por Telegram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29260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B8CFF"/>
                </a:solidFill>
              </a:rPr>
              <a:t>➡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377440" y="2011680"/>
            <a:ext cx="1645920" cy="274320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6080" y="1828800"/>
            <a:ext cx="502920" cy="502920"/>
          </a:xfrm>
          <a:prstGeom prst="ellipse">
            <a:avLst/>
          </a:prstGeom>
          <a:solidFill>
            <a:srgbClr val="2A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51760" y="25603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🔗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468880" y="33832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Telegram 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devuelve file_path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23360" y="29260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B8CFF"/>
                </a:solidFill>
              </a:rPr>
              <a:t>➡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97680" y="2011680"/>
            <a:ext cx="1645920" cy="274320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828800"/>
            <a:ext cx="502920" cy="502920"/>
          </a:xfrm>
          <a:prstGeom prst="ellipse">
            <a:avLst/>
          </a:prstGeom>
          <a:solidFill>
            <a:srgbClr val="7B8CFF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0" y="25603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⬇️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389120" y="33832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n8n descarga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archivo .ogg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0" y="29260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B8CFF"/>
                </a:solidFill>
              </a:rPr>
              <a:t>➡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7920" y="2011680"/>
            <a:ext cx="1645920" cy="274320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66560" y="1828800"/>
            <a:ext cx="502920" cy="50292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92240" y="25603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☁️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309360" y="33832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a Gemini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Files API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863840" y="29260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B8CFF"/>
                </a:solidFill>
              </a:rPr>
              <a:t>➡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38160" y="2011680"/>
            <a:ext cx="1645920" cy="274320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686800" y="1828800"/>
            <a:ext cx="502920" cy="50292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12480" y="25603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8229600" y="33832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transcribe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audio a texto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784080" y="29260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B8CFF"/>
                </a:solidFill>
              </a:rPr>
              <a:t>➡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0058400" y="2011680"/>
            <a:ext cx="1645920" cy="2743200"/>
          </a:xfrm>
          <a:prstGeom prst="roundRect">
            <a:avLst>
              <a:gd name="adj" fmla="val 8333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0607040" y="1828800"/>
            <a:ext cx="502920" cy="502920"/>
          </a:xfrm>
          <a:prstGeom prst="ellipse">
            <a:avLst/>
          </a:prstGeom>
          <a:solidFill>
            <a:srgbClr val="4361EE"/>
          </a:solidFill>
          <a:ln/>
        </p:spPr>
      </p:sp>
      <p:sp>
        <p:nvSpPr>
          <p:cNvPr id="38" name="Text 36"/>
          <p:cNvSpPr/>
          <p:nvPr/>
        </p:nvSpPr>
        <p:spPr>
          <a:xfrm>
            <a:off x="106070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332720" y="25603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✅</a:t>
            </a:r>
            <a:endParaRPr lang="en-US" sz="3000" dirty="0"/>
          </a:p>
        </p:txBody>
      </p:sp>
      <p:sp>
        <p:nvSpPr>
          <p:cNvPr id="40" name="Text 38"/>
          <p:cNvSpPr/>
          <p:nvPr/>
        </p:nvSpPr>
        <p:spPr>
          <a:xfrm>
            <a:off x="10149840" y="33832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Texto entra 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Agente como input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286000" y="5303520"/>
            <a:ext cx="7315200" cy="914400"/>
          </a:xfrm>
          <a:prstGeom prst="roundRect">
            <a:avLst>
              <a:gd name="adj" fmla="val 15000"/>
            </a:avLst>
          </a:prstGeom>
          <a:solidFill>
            <a:srgbClr val="2A2A3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560320" y="539496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Solucion: Gemini Files API upload + fileData URI (reemplaza inline_data que fallaba con filesystem-v2 de n8n)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Memoria y Contexto por Usuario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C0"/>
                </a:solidFill>
              </a:rPr>
              <a:t>8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645920"/>
            <a:ext cx="5029200" cy="4114800"/>
          </a:xfrm>
          <a:prstGeom prst="roundRect">
            <a:avLst>
              <a:gd name="adj" fmla="val 3333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1828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D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 — user_sessions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2377440"/>
          <a:ext cx="43891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361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Campo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4361E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Ejemplo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0C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chat_id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0C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123456789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0C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active_file_id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0C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1BxiMVs0X...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0C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active_file_name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0C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Nomina_2026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0C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active_sheet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0B0C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Hoja 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097280" y="438912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usuario tiene su propio archivo activo.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agente recuerda entre mensajes que archivo y hoja esta usando.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0" y="1645920"/>
            <a:ext cx="5029200" cy="4114800"/>
          </a:xfrm>
          <a:prstGeom prst="roundRect">
            <a:avLst>
              <a:gd name="adj" fmla="val 3333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766560" y="1828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F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Memoria Conversacional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766560" y="2377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Buffer Window Memory de LangChain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949440" y="29260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1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Recuerda los ultimos 20 mensajes de la conversacion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949440" y="34290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1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Mantiene contexto entre preguntas seguidas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949440" y="39319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1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usuario puede referirse a datos previos ('los mismos datos')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949440" y="4434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1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reinicia al iniciar nueva conversacion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Bugs Corregidos en Produccion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C0"/>
                </a:solidFill>
              </a:rPr>
              <a:t>9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08760"/>
            <a:ext cx="365760" cy="365760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463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leer_filas HTTP 400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1208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D6A0"/>
                </a:solidFill>
              </a:rPr>
              <a:t>➡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760720" y="146304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enviaba nombre de hoja incorrecto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057400"/>
            <a:ext cx="365760" cy="365760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2011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active_file_id siempre 'none'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D6A0"/>
                </a:solidFill>
              </a:rPr>
              <a:t>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760720" y="201168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corrompía IDs largos, se usa buscar_en_drive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606040"/>
            <a:ext cx="365760" cy="36576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2560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Footer de n8n en Telegram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120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D6A0"/>
                </a:solidFill>
              </a:rPr>
              <a:t>➡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60720" y="25603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Reemplazado nodo nativo por HTTP Request directo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154680"/>
            <a:ext cx="365760" cy="36576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3108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parse Markdown (_)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D6A0"/>
                </a:solidFill>
              </a:rPr>
              <a:t>➡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760720" y="310896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Escapar _ en campos como Salario_USD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3703320"/>
            <a:ext cx="365760" cy="36576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97280" y="3657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no filtraba datos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1208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D6A0"/>
                </a:solidFill>
              </a:rPr>
              <a:t>➡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760720" y="365760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Seccion FILTRAR explicita en system prompt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4251960"/>
            <a:ext cx="365760" cy="36576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251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97280" y="4206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Suma incorrecta (decimales)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1208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D6A0"/>
                </a:solidFill>
              </a:rPr>
              <a:t>➡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760720" y="420624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Formato europeo coma→punto en system prompt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800600"/>
            <a:ext cx="365760" cy="365760"/>
          </a:xfrm>
          <a:prstGeom prst="ellipse">
            <a:avLst/>
          </a:prstGeom>
          <a:solidFill>
            <a:srgbClr val="FF9F1C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4800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97280" y="47548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Agente se colgaba entre msgs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12080" y="4754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D6A0"/>
                </a:solidFill>
              </a:rPr>
              <a:t>➡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760720" y="475488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Consecuencia del bug de file_id (corregido)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5349240"/>
            <a:ext cx="365760" cy="365760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" y="5349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97280" y="5303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Audio sin respuesta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12080" y="5303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D6A0"/>
                </a:solidFill>
              </a:rPr>
              <a:t>➡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760720" y="53035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inline_data → Gemini Files API upload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48640" y="5897880"/>
            <a:ext cx="365760" cy="365760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" y="5897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97280" y="5852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Construir contexto falla audio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212080" y="5852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D6A0"/>
                </a:solidFill>
              </a:rPr>
              <a:t>➡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760720" y="585216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Nodo ahora lee de 3 fuentes posibles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Ejemplo de Uso Real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C0"/>
                </a:solidFill>
              </a:rPr>
              <a:t>10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63040"/>
            <a:ext cx="5029200" cy="502920"/>
          </a:xfrm>
          <a:prstGeom prst="roundRect">
            <a:avLst>
              <a:gd name="adj" fmla="val 27273"/>
            </a:avLst>
          </a:prstGeom>
          <a:solidFill>
            <a:srgbClr val="2A2A4A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463040"/>
            <a:ext cx="54864" cy="50292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4630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Usuario: "Busca el archivo Nomina"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2103120"/>
            <a:ext cx="7772400" cy="502920"/>
          </a:xfrm>
          <a:prstGeom prst="roundRect">
            <a:avLst>
              <a:gd name="adj" fmla="val 27273"/>
            </a:avLst>
          </a:prstGeom>
          <a:solidFill>
            <a:srgbClr val="1A2E3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2103120"/>
            <a:ext cx="54864" cy="5029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210312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Pepito: "Encontre Nomina_2026.xlsx. Lo selecciono?"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743200"/>
            <a:ext cx="5029200" cy="502920"/>
          </a:xfrm>
          <a:prstGeom prst="roundRect">
            <a:avLst>
              <a:gd name="adj" fmla="val 27273"/>
            </a:avLst>
          </a:prstGeom>
          <a:solidFill>
            <a:srgbClr val="2A2A4A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743200"/>
            <a:ext cx="54864" cy="50292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7432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Usuario: "Si, seleccionalo"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3383280"/>
            <a:ext cx="7772400" cy="502920"/>
          </a:xfrm>
          <a:prstGeom prst="roundRect">
            <a:avLst>
              <a:gd name="adj" fmla="val 27273"/>
            </a:avLst>
          </a:prstGeom>
          <a:solidFill>
            <a:srgbClr val="1A2E3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3383280"/>
            <a:ext cx="54864" cy="5029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33832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Pepito: "Listo! Ahora trabajo con Nomina_2026."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4023360"/>
            <a:ext cx="5029200" cy="502920"/>
          </a:xfrm>
          <a:prstGeom prst="roundRect">
            <a:avLst>
              <a:gd name="adj" fmla="val 27273"/>
            </a:avLst>
          </a:prstGeom>
          <a:solidFill>
            <a:srgbClr val="2A2A4A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4023360"/>
            <a:ext cx="54864" cy="50292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0233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Usuario: "Cuanto suman los salarios?"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4663440"/>
            <a:ext cx="7772400" cy="502920"/>
          </a:xfrm>
          <a:prstGeom prst="roundRect">
            <a:avLst>
              <a:gd name="adj" fmla="val 27273"/>
            </a:avLst>
          </a:prstGeom>
          <a:solidFill>
            <a:srgbClr val="1A2E3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4663440"/>
            <a:ext cx="54864" cy="5029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46634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Pepito: "La suma total de salarios es $13,121.07 (3 empleados)"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5303520"/>
            <a:ext cx="5029200" cy="502920"/>
          </a:xfrm>
          <a:prstGeom prst="roundRect">
            <a:avLst>
              <a:gd name="adj" fmla="val 27273"/>
            </a:avLst>
          </a:prstGeom>
          <a:solidFill>
            <a:srgbClr val="2A2A4A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5303520"/>
            <a:ext cx="54864" cy="50292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53035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Usuario: [envia audio] "Agrega a Pedro con salario 5000"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0" y="5943600"/>
            <a:ext cx="7772400" cy="502920"/>
          </a:xfrm>
          <a:prstGeom prst="roundRect">
            <a:avLst>
              <a:gd name="adj" fmla="val 27273"/>
            </a:avLst>
          </a:prstGeom>
          <a:solidFill>
            <a:srgbClr val="1A2E3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0" y="5943600"/>
            <a:ext cx="54864" cy="5029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9" name="Text 27"/>
          <p:cNvSpPr/>
          <p:nvPr/>
        </p:nvSpPr>
        <p:spPr>
          <a:xfrm>
            <a:off x="3383280" y="59436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D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Pepito: "Fila agregada: Pedro | $5,000.00"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Metricas del Proyecto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C0"/>
                </a:solidFill>
              </a:rPr>
              <a:t>11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645920"/>
            <a:ext cx="3200400" cy="2103120"/>
          </a:xfrm>
          <a:prstGeom prst="roundRect">
            <a:avLst>
              <a:gd name="adj" fmla="val 6522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8288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361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Nodos en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workflow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645920"/>
            <a:ext cx="3200400" cy="2103120"/>
          </a:xfrm>
          <a:prstGeom prst="roundRect">
            <a:avLst>
              <a:gd name="adj" fmla="val 6522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18288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6D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4572000" y="28346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Herramientas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IA disponibles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0" y="1645920"/>
            <a:ext cx="3200400" cy="2103120"/>
          </a:xfrm>
          <a:prstGeom prst="roundRect">
            <a:avLst>
              <a:gd name="adj" fmla="val 6522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0" y="18288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9F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8229600" y="28346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integradas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4206240"/>
            <a:ext cx="3200400" cy="2103120"/>
          </a:xfrm>
          <a:prstGeom prst="roundRect">
            <a:avLst>
              <a:gd name="adj" fmla="val 6522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43891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F476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914400" y="53949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corregidos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4206240"/>
            <a:ext cx="3200400" cy="2103120"/>
          </a:xfrm>
          <a:prstGeom prst="roundRect">
            <a:avLst>
              <a:gd name="adj" fmla="val 6522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0" y="43891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D1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4572000" y="53949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Scripts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reparacion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29600" y="4206240"/>
            <a:ext cx="3200400" cy="2103120"/>
          </a:xfrm>
          <a:prstGeom prst="roundRect">
            <a:avLst>
              <a:gd name="adj" fmla="val 6522"/>
            </a:avLst>
          </a:prstGeom>
          <a:solidFill>
            <a:srgbClr val="16213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0" y="43891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7B8C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5200" dirty="0"/>
          </a:p>
        </p:txBody>
      </p:sp>
      <p:sp>
        <p:nvSpPr>
          <p:cNvPr id="23" name="Text 21"/>
          <p:cNvSpPr/>
          <p:nvPr/>
        </p:nvSpPr>
        <p:spPr>
          <a:xfrm>
            <a:off x="8229600" y="53949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Tipos 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 (txt/img/audio)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Estado Actual y Proximos Pasos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2286000" cy="36576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C0"/>
                </a:solidFill>
              </a:rPr>
              <a:t>12 /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0" y="6583680"/>
            <a:ext cx="12188952" cy="45720"/>
          </a:xfrm>
          <a:prstGeom prst="rect">
            <a:avLst/>
          </a:prstGeom>
          <a:solidFill>
            <a:srgbClr val="4361EE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645920"/>
            <a:ext cx="5029200" cy="4114800"/>
          </a:xfrm>
          <a:prstGeom prst="roundRect">
            <a:avLst>
              <a:gd name="adj" fmla="val 3333"/>
            </a:avLst>
          </a:prstGeom>
          <a:solidFill>
            <a:srgbClr val="1A2E2A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1828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D6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FUNCIONANDO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377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1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Mensajes de texto → respuesta IA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2788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1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Fotos → analisis con Gemini Vision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80160" y="3200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1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Busqueda en Google Drive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80160" y="3611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1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Lectura y filtrado de Google Sheets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4023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1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Calculos (suma, promedio, max, min)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80160" y="4434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1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Escritura y edicion de datos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80160" y="4846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1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Memoria por usuario (Supabase)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0160" y="5257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1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Respuesta limpia sin footer de n8n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0" y="1645920"/>
            <a:ext cx="5029200" cy="4114800"/>
          </a:xfrm>
          <a:prstGeom prst="roundRect">
            <a:avLst>
              <a:gd name="adj" fmla="val 3333"/>
            </a:avLst>
          </a:prstGeom>
          <a:solidFill>
            <a:srgbClr val="2E2A1A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1828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F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PROXIMOS PASOS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0" y="23774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○"/>
            </a:pPr>
            <a:r>
              <a:rPr lang="en-US" sz="11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Probar pipeline de audio (fix recien aplicado)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28803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○"/>
            </a:pPr>
            <a:r>
              <a:rPr lang="en-US" sz="11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Agregar soporte para documentos PDF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33832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○"/>
            </a:pPr>
            <a:r>
              <a:rPr lang="en-US" sz="11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de metricas de uso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0" y="38862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○"/>
            </a:pPr>
            <a:r>
              <a:rPr lang="en-US" sz="11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Notificaciones programadas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438912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○"/>
            </a:pPr>
            <a:r>
              <a:rPr lang="en-US" sz="11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Multi-idioma (ES/EN)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83680" y="48920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○"/>
            </a:pPr>
            <a:r>
              <a:rPr lang="en-US" sz="1100" dirty="0">
                <a:solidFill>
                  <a:srgbClr val="B0B0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Manejo de errores mas robusto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86000" y="5943600"/>
            <a:ext cx="7589520" cy="640080"/>
          </a:xfrm>
          <a:prstGeom prst="roundRect">
            <a:avLst>
              <a:gd name="adj" fmla="val 21429"/>
            </a:avLst>
          </a:prstGeom>
          <a:solidFill>
            <a:srgbClr val="4361EE"/>
          </a:solidFill>
          <a:ln/>
          <a:effectLst>
            <a:outerShdw sx="100000" sy="100000" kx="0" ky="0" algn="bl" rotWithShape="0" blurRad="76200" dist="25400" dir="162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286000" y="594360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ID: BD0kGowbl0SwOvC2  |  Estado: ACTIVO  |  Abril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Agente N8N Claude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Agente Telegram Pepito - Presentacion del Proyecto</dc:title>
  <dc:subject>PptxGenJS Presentation</dc:subject>
  <dc:creator>Claude Code</dc:creator>
  <cp:lastModifiedBy>Claude Code</cp:lastModifiedBy>
  <cp:revision>1</cp:revision>
  <dcterms:created xsi:type="dcterms:W3CDTF">2026-04-04T17:09:11Z</dcterms:created>
  <dcterms:modified xsi:type="dcterms:W3CDTF">2026-04-04T17:09:11Z</dcterms:modified>
</cp:coreProperties>
</file>